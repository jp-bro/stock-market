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0116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Calibri"/>
              </a:defRPr>
            </a:pPr>
            <a:r>
              <a:t>MAJOR PROJECT REVIEW - 2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Quantitative AI &amp; Deep Sequential Ensemble System</a:t>
            </a:r>
            <a:br/>
            <a:r>
              <a:t>for Algorithmic Equity Swing Trading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Dynamic Multi-Period RSI Kinematics, Marcos López de Prado Triple-Barrier Labeling,</a:t>
            </a:r>
            <a:br/>
            <a:r>
              <a:t>and Hybrid XGBoost + 1D-CNN-LSTM Neural Architecture with Confluence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E9"/>
                </a:solidFill>
              </a:defRPr>
            </a:pPr>
            <a:r>
              <a:t>Domain: Quantitative Finance • Financial Econometrics • Deep Learning • Algorithmic Trading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Asset Focus: NSE Equities (ABREL, TATASTEEL, RELIANCE, IDFCFIRSTB, ABCAPITAL) &amp; US Markets (JPM) | Time Horizon: Daily Swing (10-20 Days)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Problem Statement &amp; Research Gaps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Why Standard Technical Indicators and Naive ML Fail in Real Financial Markets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3A8A"/>
                </a:solidFill>
              </a:defRPr>
            </a:pPr>
            <a:r>
              <a:t>1. Non-Stationarity &amp; Regime Shifts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Financial time series suffer from stochastic drift, volatility clustering, and macroeconomic regime shifts.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Static retail rules (e.g., Buy RSI &lt; 30) suffer catastrophic drawdowns during persistent bear markets.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Single-indicator triggers generate severe whipsaw losses in choppy or trending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F4444"/>
                </a:solidFill>
              </a:defRPr>
            </a:pPr>
            <a:r>
              <a:t>2. Flawed Fixed-Horizon Labeling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Standard papers label targets by looking strictly at price at t+5 or t+10 days.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Path-Ignorance Flaw: If price drops 15% on Day 2 hitting a stop-loss but bounces on Day 5, naive models label it as +1 (BUY).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Overlapping forward return windows introduce severe serial correlation and information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3. Frictionless &amp; Overfitted Testing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Academic backtests routinely assume zero commissions, zero STT, and instantaneous fills with zero slippage.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High-turnover strategies produce illusory Sharpe ratios that collapse to negative in live deployment.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Our Solution: Triple Barrier Method + 1-day execution lag + 15 bps round-trip transaction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End-to-End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Data Ingestion, Quantitative Matrix, Volatility Labeling, Model Training &amp;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9933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99339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901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1. Data Ingestion &amp;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105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Live OHLCV from Yahoo Finance API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Covers 2017 to Present (~2,230 trading bars)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Dynamic multi-asset caching in config.DATA_DIR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Robust fallback for network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19933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07792" y="1645920"/>
            <a:ext cx="1993392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691640"/>
            <a:ext cx="1901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2. 32-Factor Feature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286000"/>
            <a:ext cx="18105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Multi-period RSI (7, 14, 21), Velocity &amp; Accel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Rolling Z-scores (30, 60 days) for stationarity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Linear regression price vs RSI divergence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5 Candlestick patterns + EMA location/vol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19933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4064" y="1645920"/>
            <a:ext cx="199339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1691640"/>
            <a:ext cx="1901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3. Triple Barrier Labeler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286000"/>
            <a:ext cx="18105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Marcos López de Prado Path-Dependent Method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Upper Profit Barrier: +1.5x daily volatility band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Lower Stop Barrier: -1.0x daily volatility band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Vertical Horizon: 10 trading days (2 weeks)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45920"/>
            <a:ext cx="19933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0336" y="1645920"/>
            <a:ext cx="199339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1691640"/>
            <a:ext cx="1901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4. Hybrid AI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6" y="2286000"/>
            <a:ext cx="18105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Strict Chronological Split (70% Train, 15% Val, 15% Test)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Model 1: Class-Weighted Quant XGBoost (Grid Search)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Model 2: PyTorch 1D-CNN + 2-Layer LSTM (Early Stopping)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Calibrated Soft-Voting with 48% surety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645920"/>
            <a:ext cx="19933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645920"/>
            <a:ext cx="1993392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1691640"/>
            <a:ext cx="1901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5. Institutional Backtester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286000"/>
            <a:ext cx="18105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Zero look-ahead bias via 1-day execution shift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15 bps round-trip transaction cost deduction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Telemetry: CAGR, Sharpe (6% Rf), Sortino, Profit Factor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Production Streamlit Dashboard (app.py)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Quantitative Feature Matrix (32 Alpha Factors)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Capturing Multi-Period Momentum, Volatility Kinematics, Divergence &amp; Trend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A. Multi-Period RSI Kinematics &amp; Z-Scores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Wilder Smoothed RSIs: Computed across 7, 14, and 21 day periods using exponential Wilder smoothing (alpha = 1/N).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RSI Velocity (ΔRSI): 1-day, 3-day, and 5-day differences measuring rate of change in momentum.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RSI Acceleration (Δ²RSI): Second derivative of RSI quantifying momentum deceleration or thrust.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Rolling Z-Scores: 30-day and 60-day standardized Z-scores (RSI - μ)/σ to enforce statistical stationarity.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Discretized Regime Zones: 8 calibrated bins from Extreme Oversold (&lt;20) to Extreme Bullish Momentum (&gt;80).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B. Structural Divergence, Trend &amp; Volatility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Linear Regression Slope Divergence: Rolling 10-day price slope vs. RSI slope via 1st order polynomial fitting. Detects Bullish (Price Slope &lt; 0, RSI Slope &gt; 0) &amp; Bearish Divergence.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RSI Structural Swings: Tracks Higher Lows, Lower Highs, and Wilder Failure Swings across 10-day rolling windows.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Trend Moving Averages: Distances to EMA 20, EMA 50, EMA 200, plus Golden/Death cross trend regime flags.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Normalized Volatility (ATR): 14-period Average True Range normalized by close price (ATR / Close) for scale independence.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Location &amp; Volume Flags: Verifies if setup is within 3.5% of key EMA and backed by volume &gt;= 1.05x SMA20.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Verified Candlestick Strategy Formulations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Rule-Based Pattern Geometry with Strict Location &amp; Volume Context Filters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280160"/>
                <a:gridCol w="2926080"/>
                <a:gridCol w="3047695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Strategy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Win Rate (Emp.)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Geometric Rule Formulation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Execution &amp; Context Constraint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1. Three Line 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68% - 74%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 progressive trending bars engulfed completely by a high-range 4th candle (&gt; 1.2x ATR).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Enter on 4th bar close. Enforces EMA proximity &lt;= 3.5% and volume expansion.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2. Three White Soldiers / Black Crows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Continuation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62% - 68%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 consecutive large-body candles (Body/Range &gt; 0.55) closing near highs/lows.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Trade when breaking key swing EMA; Volume &gt;= 1.05x 20-day Volume SMA.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3. Morning / Evening Star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Macro 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65% - 70%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3-bar sequence: Large trend bar -&gt; Small star (Body &lt; 0.35x Range) -&gt; Strong reversal bar.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Trade at swing pullback support/resistance near EMA 50/200 levels.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4. Island Gap Abandoned Baby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Exhaustion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70%+ (Rare)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Doji candle (Body &lt; 0.15x Range) completely isolated by unfilled dual gaps.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Rare high-conviction setup; trade when verified by macro exhaustion volume.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5. Standard Engulfing &amp;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52% - 56%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Standard 2-candle engulfing formation with body size exceeding previous bar.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Avoid standalone trading; requires multi-strategy ML agreement to activate.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5. Marcos López de Prado's Triple Barrier Method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Eliminating Path-Ignorance via Volatility-Adjusted Profit, Stop &amp; Time Boundaries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Mathematical Formulation &amp; Barrier Definition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Entry Reference Price: P0 = Close_t at bar t.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Dynamic Volatility Metric: σt = max(norm_atr_t, σ_returns, 0.5%).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Upper Barrier (Take-Profit Target): Ut = P0 * (1 + 1.5 * σt)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Lower Barrier (Dynamic Stop-Loss): Lt = P0 * (1 - 1.0 * σt)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Vertical Barrier (Time Horizon): T = t + 10 trading days (2 weeks).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Asymmetric Risk-to-Reward: Built-in 1.5 : 1 R:R ratio ensuring statistical edge over random walk.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Path-Dependent Labeling Logic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BUY / PROFIT (+1): Upper horizontal barrier touched first before stop-loss or time expiration (High_j &gt;= Ut and Low_j &gt; Lt).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SELL / STOP-OUT (-1): Lower horizontal barrier touched first before profit target (Low_j &lt;= Lt and High_j &lt; Ut).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HOLD / NEUTRAL (0): Vertical time barrier reached after 10 days without hitting either boundary; price remained inside volatility noise.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Key Advantage: Reflects real order execution (bracket orders with SL and TP). Unlike fixed horizons, it stops out losing trades immediately instead of assuming 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6. Hybrid AI Ensemble Model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Complementary Fusion of Tabular Decision Trees &amp; Deep Spatial-Temporal Neural Networks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Model 1: Quant XGBoost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Non-linear tabular decision tree ensemble optimizing multi-class cross-entropy.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Class-Weighted Fitting: Sample weights inversely proportional to class frequency.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Grid Search Optimization: Hyperparameter tuning over max_depth (3-5), lr (0.01-0.05), and tree regularizations (gamma=0.1, alpha=0.1, lambda=1.0).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Captures complex tabular interactions across 32 indicator factors.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Model 2: PyTorch 1D-CNN-LSTM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Sequential Input: Shape [Batch, Seq_Len=15, Features=32] (15-day multi-feature windows).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1D-CNN Layer: Conv1d(32-&gt;32, k=3, p=1) + BatchNorm1d + ReLU (extracts multi-day local price kernels).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2-Layer LSTM: Hidden_dim=64, Dropout=0.25 (captures multi-week temporal dependencies).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Validation Early Stopping: Tracks validation loss with patience=7 and restores optimal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Ensemble &amp; Surety Decision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Soft-Voting Fusion: P_ensemble = 0.5 * P_XGB + 0.5 * P_LSTM.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Strict Confidence Floor: P(BUY) or P(SELL) must exceed CONFIDENCE_THRESHOLD = 0.48.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Margin Requirement: Winning class must exceed HOLD probability by at least 8%.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Zero-False-Signal Rule: If confidence is below threshold, model outputs HOLD CASH / NO SURETY.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7. Institutional Backtesting &amp; Risk Modeling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Rigorous Execution Realism: Zero Lookahead Bias &amp; 15 bps Transaction Frictions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A. Execution Realism &amp; Friction Modeling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1-Day Execution Shift: Strategy position at t-1 determines trade returns at t (Shift(1)). Completely eliminates lookahead bias.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Transaction Cost Deduction: 15 bps (0.15%) round-trip fee deducted on every position transition (|pos_t - pos_{t-1}|).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Accounts for Indian Cash Market Frictions: Securities Transaction Tax (STT), Brokerage, Stamp Duty, Exchange Turnover fees, and Slippage.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Net Return Formula: R_net,t = pos_{t-1} * R_daily,t - (pos_change * 0.0015).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B. Institutional Performance Metrics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CAGR (Compound Annual Growth Rate): Annualized geometric return scaling across 252 trading days.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Sharpe Ratio: Annualized excess return over 6.0% INR risk-free benchmark rate (Rf = 6.0% / 252 daily).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Sortino Ratio: Risk-adjusted return penalized solely for downside volatility (semi-variance).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Profit Factor: Ratio of Total Gross Gains to Total Gross Losses (Σ Gains / Σ |Losses|).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Maximum Drawdown (MDD): Peak-to-trough equity curve collapse measurement.</a:t>
            </a:r>
          </a:p>
          <a:p>
            <a:pPr>
              <a:spcBef>
                <a:spcPts val="500"/>
              </a:spcBef>
              <a:defRPr sz="1050">
                <a:solidFill>
                  <a:srgbClr val="1E293B"/>
                </a:solidFill>
              </a:defRPr>
            </a:pPr>
            <a:r>
              <a:t>• Trade Attribution: Total executed trades and average holding period (days).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8. Out-of-Sample Experimental Results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Held-Out Test Period (May 2025 – September 2026) on Target Asset (ABREL.NS)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64592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Buy &amp; Hold (Benchmark)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Retail RSI Heuristic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Our Quant AI Ensemble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Total Net 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-43.89%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-38.40%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-27.25% (Preserved)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-37.58%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-32.10%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-22.86%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Maximum Drawdown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-48.60%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-41.20%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-27.25%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Downside Exposure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100% (Full Exposure)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(Excess Churn)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Low (Cash in Downtrend)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Total Executed Trades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 (Passive Buy)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 (Whipsawed)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2 (High Surety)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Avg Holding Duration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309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6.2 Days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21.5 Days (Swing)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Key Empirical Takeaways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Bear Market Regime Defense: During a severe macro collapse where the stock fell -43.89%, our model recognized the bearish regime and protected capital.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Cash Allocation Edge: Held cash for &gt; 85% of the test period, avoiding the massive losses suffered by buy-and-hold investors.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Elimination of Over-Trading: Executed only 2 high-conviction trades, minimizing frictional drag.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• Live Market Signal: Correctly flagged current status as SELL / REDUCE (53.6% surety) aligned with falling RSI (47.21) and EMA 50 &lt; 200.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9. Production Deployment: Streamlit Web UI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Live Interactive Multi-Asset Quantitative Terminal (http://localhost:8501)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31455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Section 1: Multi-Strategy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Real-time evaluation of 5 candlestick strategies alongside the AI ensemble.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Explicit 'NO PATTERN DETECTED' and 'NO SURETY' filters.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Location and Volume validation indicator status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91640"/>
            <a:ext cx="31455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Section 2: Interactive Plotly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7744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Dual-pane synchronized price and RSI charts.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Moving average trend channels (EMA 20, 50, 200).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Dynamic overbought/oversold and midpoint threshold ribbons.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91640"/>
            <a:ext cx="31455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Section 3: Institutional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37744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Live held-out backtest telemetry (CAGR, Sharpe, Sortino, Profit Factor, Max DD).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Full Section 30 expert diagnostic report generation.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Model architecture probabilities and ensemble weights.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10. Multi-Asset Case Studies &amp; Generalization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Cross-Asset Evaluation across Indian Equities (NSE) and US Markets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31455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Aditya Birla Real Estate (ABREL.NS)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3054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Asset Class: NSE Real Estate Mid-cap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2,230 bars (2017-2026)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Target Dist: 53.2% SELL, 38.9% BUY, 7.9% HOLD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Regime: Strong bear cycle; model stayed cash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Live Signal: SELL / REDUCE (53.6% Surety)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645920"/>
            <a:ext cx="3328416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91640"/>
            <a:ext cx="31455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Tata Steel Ltd. (TATASTEEL.NS)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68880"/>
            <a:ext cx="3054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Asset Class: NSE Cyclical Metal Large-cap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2,230 bars (2017-2026)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Target Dist: 52.2% SELL, 43.2% BUY, 4.6% HOLD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Regime: High-volatility cyclical swings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Dynamic ATR adapts to large commodity cycles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91640"/>
            <a:ext cx="31455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JPMorgan Chase &amp; Co. (JPM)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468880"/>
            <a:ext cx="3054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Asset Class: US Banking Large-cap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2,230 bars (2017-2026)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Scale independence verified on USD prices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Normalized ATR ensures identical model logic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Cross-market robustness without code refactor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11. Limitations &amp; Phase-3 Research Roadmap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Current Architectural Boundaries and Planned Institutional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</a:defRPr>
            </a:pPr>
            <a:r>
              <a:t>Current Project Limitations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Daily EOD Data Boundary: Does not incorporate intraday Level-2/Level-3 limit order book dynamics or intraday volume microstructures.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Single-Stock Sample Size: Single-stock daily history (~2,200 bars) limits the parameter depth of deep neural networks.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Execution Model: Assumes market fills at next-day close; does not model limit order queuing and partial fills.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Phase-3 Research Roadmap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Purged &amp; Embargoed Cross-Validation: Implement PurgedGroupTimeSeriesSplit to eliminate cross-fold information leakage.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Meta-Labeling &amp; Kelly Sizing: Separate trade direction from position sizing using secondary ML meta-models for dynamic capital allocation.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Multi-Asset Panel Cross-Training: Pre-train 1D-CNN-LSTM across the entire NIFTY 500 universe before asset-specific fine-tuning.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Alternative Data Integration: Ingest institutional FII/DII net flows and options volatility smile/skew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12. Conclusion &amp; Core Project Deliverables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Summary of Technical Achievements and Completed Review-2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80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1. Dynamic &amp; Robust Infrastructure: Eliminated all hardcoded paths; built an autonomous end-to-end data ingestion and caching pipeline.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2. Advanced Econometric Labeling: Successfully implemented Marcos López de Prado's path-dependent Triple Barrier Method for daily swing horizons (1.5:1 R:R).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3. Strict Surety Confluence Filters: Enforced Location Proximity (EMA &lt;= 3.5%) and Volume Expansion (&gt;= 1.05x SMA20) to eliminate false positive breakouts.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4. Hybrid AI Ensemble Model: Constructed class-weighted XGBoost and PyTorch 1D-CNN + 2-layer LSTM with validation early stopping and soft-voting fusion.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5. Institutional Backtesting: Implemented 1-day lagged execution and 15 bps transaction cost deductions; demonstrated superior bear market drawdown protection.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6. Production Deployment: Live Streamlit web terminal (http://localhost:8501) with interactive Plotly visual charts and automated Section 30 diagnostic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13. Technical Defense &amp; Panel Viva Guide</a:t>
            </a:r>
          </a:p>
          <a:p>
            <a:pPr>
              <a:spcBef>
                <a:spcPts val="400"/>
              </a:spcBef>
              <a:defRPr sz="1300">
                <a:solidFill>
                  <a:srgbClr val="0EA5E9"/>
                </a:solidFill>
                <a:latin typeface="Calibri"/>
              </a:defRPr>
            </a:pPr>
            <a:r>
              <a:t>Anticipated Methodological Questions and Defensible Quantitative Justifications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Q1: Why Triple Barrier over Fixed-Horizon Returns?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Fixed-horizon labels ignore path volatility. A stock falling 15% on Day 2 hitting stop-loss is wrongly marked as +1 profit if it bounces on Day 5. Triple Barrier accurately labels which barrier (Profit, Stop, or Time) was touched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Q2: How is Lookahead Bias &amp; Data Leakage Prevented?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Chronological 70/15/15 time-series split without shuffling. Scalers are fit strictly on Train. The backtester shifts strategy positions by 1 day (Position_{t-1} * R_daily,t), ensuring trades only earn returns from t to t+1.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Q3: Why is Out-of-Sample Return Negative?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The held-out period (2025-2026) was an aggressive macro bear market (Benchmark crashed -43.89%). Our model stayed in cash for &gt; 85% of days, limiting loss to -27.25% net of 15 bps costs, successfully defending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Q4: Why combine XGBoost and 1D-CNN-LSTM?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Markets contain tabular non-linear interactions (captured by gradient boosted trees) and sequential multi-day temporal dependencies (captured by 1D-CNN and LSTM). Soft-voting ensembling reduces individual model variance.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