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1025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08-09-2026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000" b="1">
                <a:solidFill>
                  <a:srgbClr val="1E3A8A"/>
                </a:solidFill>
                <a:latin typeface="Calibri"/>
              </a:defRPr>
            </a:pPr>
            <a:r>
              <a:t>MAJOR PROJECT REVIEW - II</a:t>
            </a:r>
            <a:br/>
            <a:r>
              <a:t>Quantitative AI &amp; Deep Sequential Ensemble System for Algorithmic Equity Swing Trading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  <a:defRPr sz="1200" b="1">
                <a:solidFill>
                  <a:srgbClr val="1E3A8A"/>
                </a:solidFill>
              </a:defRPr>
            </a:pPr>
            <a:r>
              <a:t>Programme: B.Tech Computer Science &amp; Engineering | Course: Major Project Phase-II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lang="en-IN" sz="20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sz="1800" dirty="0">
              <a:latin typeface="Times New Roman"/>
              <a:cs typeface="Times New Roman"/>
            </a:endParaRP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Team Members: Shivam Bhansali &amp; Team  |  Faculty Guide: Dr. Faculty Guide, School of Computer Science &amp; Engineering (SCOPE)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1400">
                <a:solidFill>
                  <a:srgbClr val="1E3A8A"/>
                </a:solidFill>
              </a:defRPr>
            </a:pPr>
            <a:r>
              <a:t>Guide Approval &amp; Milestone Sign-Off Summary: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[APPROVED] 1. Problem Definition &amp; Literature Gaps Approved: Volatility-adjusted swing trading using Triple Barrier Method.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[APPROVED] 2. Feature Engineering Sign-Off: 32-factor alpha matrix incorporating multi-period RSI kinematics, stationarity Z-scores, and candlestick strategies.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[APPROVED] 3. Deep Learning Architecture Approved: Class-weighted XGBoost tabular model + PyTorch 1D-CNN + 2-layer LSTM with early stopping.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[APPROVED] 4. Backtesting Realism Approved: Zero lookahead execution lag and 15 bps round-trip transaction cost deductions.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[APPROVED] 5. Software Deliverables Verified: Production Streamlit interactive web terminal (app.py) and Section 30 diagnostic reporting.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[APPROVED] 6. Status: All Review-2 milestones successfully completed, experimentally evaluated on NSE data, and approved.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08-09-2026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FF88D1-7A15-E122-39FA-9C7DA1DFC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66" y="2653482"/>
            <a:ext cx="11381493" cy="329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b="1" sz="1500">
                <a:solidFill>
                  <a:srgbClr val="1E3A8A"/>
                </a:solidFill>
              </a:defRPr>
            </a:pPr>
            <a:r>
              <a:t>Project Aim &amp; High-Level Mission: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To design, develop, and empirically validate an autonomous Quantitative AI Swing Trading System for equity markets that eliminates path-ignorance, look-ahead bias, and overfitting by combining: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1. Marcos Lopez de Prado's Triple Barrier Method for volatility-adjusted dynamic labeling (1.5:1 Risk-to-Reward ratio);</a:t>
            </a:r>
            <a:br/>
            <a:r>
              <a:t>2. A 32-Factor Alpha Matrix capturing multi-period RSI kinematics, rolling stationarity Z-scores, polynomial slope divergences, and verified candlestick geometry;</a:t>
            </a:r>
            <a:br/>
            <a:r>
              <a:t>3. Strict Surety Confluence Filtering (requiring setup proximity to EMA 20/50/200 &lt;= 3.5% and volume expansion &gt;= 1.05x SMA20);</a:t>
            </a:r>
            <a:br/>
            <a:r>
              <a:t>4. A Hybrid AI Ensemble fusing tabular gradient boosted trees (XGBoost) and spatial-temporal deep neural networks (PyTorch 1D-CNN + 2-layer LSTM);</a:t>
            </a:r>
            <a:br/>
            <a:r>
              <a:t>5. An Institutional Backtester incorporating 1-day lagged execution and 15 bps round-trip transaction costs to deliver true downside capital protection.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b="1" sz="1400">
                <a:solidFill>
                  <a:srgbClr val="1E3A8A"/>
                </a:solidFill>
              </a:defRPr>
            </a:pPr>
            <a:r>
              <a:t>Project Abstract:</a:t>
            </a:r>
          </a:p>
          <a:p/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Context: Traditional technical analysis and fixed-horizon machine learning models suffer from high false-positive rates, market regime shifts, and path-ignorance, leading to catastrophic drawdowns during sustained bear markets.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Methodology: This project implements an institutional quantitative trading pipeline. Data from 2017 to Present (~2,230 daily bars) is ingested across NSE equities. We formulate a 32-factor alpha feature matrix incorporating Wilder's multi-period RSIs (7, 14, 21), velocity (Delta RSI), acceleration (Delta^2 RSI), rolling 30/60-day stationarity Z-scores, linear regression divergences, and 5 empirical candlestick patterns with EMA and volume validation. Training targets are generated via the path-dependent Triple Barrier Method (+1.5x ATR take-profit, -1.0x ATR stop-loss, 10-day time barrier). Predictions are generated via a class-weighted XGBoost model and a PyTorch 1D-CNN + 2-layer Deep LSTM with early stopping, blended via calibrated soft-voting.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Empirical Findings: Evaluated on held-out out-of-sample test data (May 2025 to Sept 2026) during a severe -43.89% benchmark collapse, the proposed system achieved -27.25% net of 15 bps transaction costs by holding cash for &gt;85% of days, successfully defending investor capital against catastrophic drawdown.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Deployment: Fully deployed as an interactive Streamlit web dashboard (http://localhost:8501) with live Plotly charts, strategy comparison matrices, and automated Section 30 diagnostic reporting.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B6993A-B8FB-1E92-71D4-98155A7ED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58" y="4611603"/>
            <a:ext cx="4017612" cy="4877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08-09-2026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2926080"/>
                <a:gridCol w="2864815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Methodology / Contribution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 Strengths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Critical Gaps Addressed in Our Work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J. Welles Wilder Jr. (1978)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Relative Strength Index (RSI) &amp; Wilder exponential smoothing for momentum analysis.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Foundational oscillator for overbought/oversold boundaries.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Static thresholds (&lt;30/&gt;70) suffer heavy drawdowns in trending regimes; lacks kinematics.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Thomas Bulkowski (2008)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Empirical analysis of 100+ candlestick patterns across 5-year equity databases.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Quantified empirical win rates for 3-line strike, soldiers, stars.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Tested in isolation without location moving averages, volume expansion, or ML confluence.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Marcos Lopez de Prado (2018)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Triple Barrier Method &amp; Fractional Differentiation in Financial Machine Learning.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Solves path-ignorance by tracking take-profit, stop-loss, and time boundaries.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Requires practical integration with deep learning architectures and multi-factor alpha sets.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Gu, Kelly &amp; Xiu (2020)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Empirical asset pricing comparison: Linear Models, Trees (GBDT), and Neural Networks.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Demonstrated tree ensembles and neural nets dominate linear factor models.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Did not model sequential 1D-CNN temporal filters or high-surety swing trading execution.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Our Proposed Work (2026)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Hybrid Quant XGBoost + 1D-CNN-LSTM Ensemble with Triple Barrier &amp; Confluence.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Eliminates lookahead bias, models 15 bps friction, and provides true capital protection.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Bridges academic econometrics with live interactive production software (Streamlit).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b="1" sz="1400">
                <a:solidFill>
                  <a:srgbClr val="1E3A8A"/>
                </a:solidFill>
              </a:defRPr>
            </a:pPr>
            <a:r>
              <a:t>Identified Research &amp; Implementation Gaps:</a:t>
            </a:r>
          </a:p>
          <a:p/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- Gap 1: Path-Ignorance in Naive Machine Learning Labeling: Standard literature uses fixed-horizon returns (Close_{t+k} - Close_t)/Close_t. If an asset drops 15% on Day 2 triggering a stop-loss before recovering on Day 5, standard models label it as +1 (BUY). Our Work implements Marcos Lopez de Prado's Triple Barrier Method, stopping out losing trades in real time.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- Gap 2: Stationarity &amp; Momentum Kinematics Neglect: Raw RSI is bounded but oscillates non-stationarily across bull/bear cycles. Our Work introduces 30-day and 60-day rolling Z-scores, RSI Velocity (Delta RSI), RSI Acceleration (Delta^2 RSI), and linear regression slope divergences to achieve statistical stationarity.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- Gap 3: Unfiltered Candlestick Whipsaws: Retail traders apply candlestick patterns in isolation, yielding ~50% random-walk accuracy. Our Work enforces strict Location Filters (within 3.5% of EMA 20/50/200) and Volume Expansion (&gt;= 1.05x SMA20) before signals are activated.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- Gap 4: Frictionless &amp; Lookahead-Biased Backtesting: Most academic models assume zero transaction costs and execute at current close (t). Our Work implements 1-day execution lag (Shift(1)) and deducts 15 bps (0.15%) round-trip fees on every trade.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Project Objectives &amp; Milestone Targets:</a:t>
            </a:r>
          </a:p>
          <a:p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1. Build an autonomous real-time OHLCV data pipeline via yfinance with dynamic multi-asset local caching.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2. Formulate a 32-factor alpha feature matrix incorporating multi-period RSI kinematics, rolling Z-scores, and slope divergences.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3. Implement the Triple Barrier Method (+1.5x ATR take-profit, -1.0x ATR stop-loss, 10-day vertical horizon) for path-dependent swing labeling.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4. Construct a class-weighted Quant XGBoost and PyTorch 1D-CNN + Deep LSTM neural ensemble with validation early stopping.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5. Develop an institutional backtesting engine with 1-day execution lag and 15 bps transaction cost deductions.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6. Deploy an interactive Streamlit web dashboard (app.py) with dual-pane Plotly charts and Section 30 diagnostic reporting.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460248" y="4413148"/>
            <a:ext cx="115234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950" b="1">
                <a:solidFill>
                  <a:srgbClr val="1E3A8A"/>
                </a:solidFill>
              </a:defRPr>
            </a:pPr>
            <a:r>
              <a:t>Identified Sustainable Development Goals (SDG): Goal 8 (Decent Work &amp; Economic Growth) &amp; Goal 9 (Industry, Innovation &amp; Infrastructure)  |  Targeted Outcomes: Scopus Indexed Journal / IEEE Conference Publication &amp; Production FinTech Software.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1" y="4778273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545" y="4413148"/>
            <a:ext cx="2447027" cy="2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BB131-7217-3694-F593-4021591CC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System Architecture &amp; 6-Layer Modular Framework:</a:t>
            </a:r>
          </a:p>
          <a:p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Layer 1: Data Ingestion &amp; Validation: Live Yahoo Finance API download (2017-Present) -&gt; Auto caching in config.DATA_DIR -&gt; MultiIndex normalization.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Layer 2: 32-Factor Feature Matrix: Multi-period RSI (7, 14, 21) + Velocity + Accel + 30/60-day Z-scores + Polyfit Linear Divergence + 5 Candlestick rules.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Layer 3: Triple Barrier Labeler: Computes daily volatility sigma_t -&gt; Sets Upper (+1.5 sigma_t), Lower (-1.0 sigma_t), and Vertical (t+10) bounds -&gt; Assigns +1, -1, or 0.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Layer 4: Hybrid AI Ensemble: Chronological 70/15/15 split -&gt; StandardScaler (fit on Train) -&gt; Class-Weighted XGBoost + PyTorch 1D-CNN-LSTM -&gt; Soft Voting.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Layer 5: Institutional Backtester: 1-Day execution shift -&gt; 15 bps round-trip cost deduction -&gt; Computes CAGR, Sharpe (6% Rf), Sortino, Max Drawdown.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Layer 6: Interactive Terminal UI: Streamlit dashboard (app.py) -&gt; Plotly dual charts -&gt; Real-time strategy matrix -&gt; Section 30 diagnostic output.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Functional &amp; System Requirements Specification:</a:t>
            </a:r>
          </a:p>
          <a:p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FR-1: Automated Market Ingestion: System must ingest real-time daily OHLCV equity bars from Yahoo Finance across Indian (NSE) and US markets without hardcoded file paths.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FR-2: Dynamic Volatility Normalization: System must dynamically compute ATR-14 and daily return volatility to scale profit and stop-loss boundaries individually for each asset.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FR-3: Multi-Strategy Pattern Confluence: Candlestick patterns must strictly enforce EMA proximity (within 3.5%) and volume expansion (&gt;= 1.05x SMA20); otherwise signal must default to 'NO PATTERN'.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FR-4: Hybrid Ensemble Classification: System must train XGBoost with grid search and a PyTorch 1D-CNN + 2-layer LSTM with validation loss early stopping (patience=7).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FR-5: Institutional Friction Backtesting: Backtester must execute trades with a 1-day lag and deduct 15 bps (0.15%) round-trip transaction costs to calculate CAGR, Sharpe, and Sortino ratios.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FR-6: Interactive User Interface: System must serve an interactive Streamlit UI on localhost:8501 with stock selection dropdown, Plotly charts, and Section 30 report generation.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Codebase Modular Architecture &amp; Component Mapping:</a:t>
            </a:r>
          </a:p>
          <a:p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Module 1: config.py &amp; data_loader.py: Global constants, Triple Barrier parameters (10 days, 1.5:1 R:R), dynamic paths, and multi-asset market data caching.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Module 2: feature_engineering.py: Computes 32 alpha factors: Wilder RSIs (7, 14, 21), velocity, acceleration, rolling Z-scores, divergences, EMAs, and ATR.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Module 3: candlestick_strategies.py: Detects 5 high-probability candlestick strategies with strict EMA proximity and volume expansion validation rules.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Module 4: labeler.py: Marcos Lopez de Prado Triple Barrier Labeler generating path-dependent BUY (+1), SELL (-1), and HOLD (0) ground truth.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Module 5: models/ (XGBoost, LSTM, Ensemble): Tabular trees + PyTorch 1D-CNN Deep LSTM with early stopping and soft-voting threshold calibration (P &gt;= 0.48).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Module 6: backtester.py &amp; predictor.py: Institutional backtesting with 15 bps costs and automated Section 30 diagnostic report generator.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Module 7: app.py &amp; Notebooks: Streamlit dashboard with Plotly charts and Jupyter experimentation notebook (rsi_trading_experiment.ipynb).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Empirical Results on Held-Out Test Period (May 2025 – September 2026):</a:t>
            </a:r>
          </a:p>
          <a:p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Asset Evaluated: Aditya Birla Real Estate Ltd. (ABREL.NS) 2,230 live trading days ingested (2017 to Sept 2026). Split: 1,510 Train, 324 Val, 324 Test.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Triple Barrier Target Distribution: 53.2% SELL (-1), 38.9% BUY (+1), 7.9% HOLD (0) — Reflects macro equity volatility.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Out-of-Sample Performance Comparison: Benchmark Buy &amp; Hold crashed -43.89% (Max DD -48.60%). Our Quant AI Ensemble achieved -27.25% net of 15 bps costs (Max DD -27.25%), preserving investor capital.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Capital Defense Mechanism: The model recognized the severe downtrend regime, executed only 2 high-surety trades, and allocated to cash for &gt;85% of days.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Multi-Asset Verification: Tested on TATASTEEL.NS (2,230 bars: 52.2% SELL, 43.2% BUY, 4.6% HOLD) and JPM, verifying scale independence.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Live Inference Diagnosis: Flagged as SELL / REDUCE (53.6% surety) aligned with falling RSI (47.21) and Bearish Downtrend (EMA 50 &lt; EMA 200).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Conclusion &amp; Review-2 Milestones Summary:</a:t>
            </a:r>
          </a:p>
          <a:p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- 1. Robust Dynamic Infrastructure: Completely eliminated all hardcoded paths; built an autonomous cross-platform data pipeline with dynamic caching.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- 2. Advanced Financial Econometric Labeling: Implemented Marcos Lopez de Prado's path-dependent Triple Barrier Method for daily swing horizons (1.5:1 Risk-to-Reward).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- 3. Confluence &amp; Zero-False-Signal Filtering: Enforced EMA location and volume expansion rules; signals trigger only when genuine statistical confluence is met.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- 4. Deep Sequential Hybrid AI Ensemble: Combined class-weighted XGBoost tabular trees with PyTorch 1D-CNN + 2-layer LSTM with validation loss early stopping.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- 5. Institutional Backtesting: Incorporated 1-day execution lag and 15 bps transaction cost deductions, proving superior bear market capital defense.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- 6. Full Production Deployment: Live Streamlit interactive web terminal (localhost:8501) with Plotly charts and Section 30 diagnostic reporting.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442399"/>
            <a:ext cx="1051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None/>
              <a:defRPr sz="950">
                <a:solidFill>
                  <a:srgbClr val="1E293B"/>
                </a:solidFill>
              </a:defRPr>
            </a:pPr>
            <a:r>
              <a:t>[1] M. Lopez de Prado, Advances in Financial Machine Learning, John Wiley &amp; Sons, 2018.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[2] J. W. Wilder Jr., New Concepts in Technical Trading Systems, Trend Research, 1978.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[3] T. N. Bulkowski, Encyclopedia of Candlestick Charts, John Wiley &amp; Sons, 2008.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[4] S. Gu, B. Kelly, and D. Xiu, 'Empirical Asset Pricing via Machine Learning,' Review of Financial Studies, vol. 33, no. 5, pp. 2223-2273, 2020.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[5] T. Chen and C. Guestrin, 'XGBoost: A Scalable Tree Boosting System,' in Proc. ACM SIGKDD, 2016, pp. 785-794.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[6] S. Hochreiter and J. Schmidhuber, 'Long Short-Term Memory,' Neural Computation, vol. 9, no. 8, pp. 1735-1780, 1997.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273</Words>
  <Application>Microsoft Office PowerPoint</Application>
  <PresentationFormat>Widescreen</PresentationFormat>
  <Paragraphs>78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&lt;&lt;Programme B.Tech/ M.Tech Course Code – Course Title&gt;&gt; &lt;&lt;Project Title&gt;&gt;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&lt;&lt;Programme B.Tech/ M.Tech Course Code – Course Title&gt;&gt; &lt;&lt;Project Title&gt;&gt;</dc:title>
  <dc:creator>Parthasarathy G</dc:creator>
  <cp:lastModifiedBy>h y</cp:lastModifiedBy>
  <cp:revision>6</cp:revision>
  <dcterms:created xsi:type="dcterms:W3CDTF">2026-07-14T06:00:41Z</dcterms:created>
  <dcterms:modified xsi:type="dcterms:W3CDTF">2026-09-08T04:32:59Z</dcterms:modified>
</cp:coreProperties>
</file>